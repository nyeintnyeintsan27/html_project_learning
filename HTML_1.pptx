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Open Sans SemiBold"/>
      <p:regular r:id="rId30"/>
      <p:bold r:id="rId31"/>
      <p:italic r:id="rId32"/>
      <p:boldItalic r:id="rId33"/>
    </p:embeddedFont>
    <p:embeddedFont>
      <p:font typeface="Open Sans Medium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5.xml"/><Relationship Id="rId41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SemiBold-bold.fntdata"/><Relationship Id="rId30" Type="http://schemas.openxmlformats.org/officeDocument/2006/relationships/font" Target="fonts/OpenSans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OpenSansSemiBold-italic.fntdata"/><Relationship Id="rId13" Type="http://schemas.openxmlformats.org/officeDocument/2006/relationships/slide" Target="slides/slide8.xml"/><Relationship Id="rId35" Type="http://schemas.openxmlformats.org/officeDocument/2006/relationships/font" Target="fonts/OpenSansMedium-bold.fntdata"/><Relationship Id="rId12" Type="http://schemas.openxmlformats.org/officeDocument/2006/relationships/slide" Target="slides/slide7.xml"/><Relationship Id="rId34" Type="http://schemas.openxmlformats.org/officeDocument/2006/relationships/font" Target="fonts/OpenSansMedium-regular.fntdata"/><Relationship Id="rId15" Type="http://schemas.openxmlformats.org/officeDocument/2006/relationships/slide" Target="slides/slide10.xml"/><Relationship Id="rId37" Type="http://schemas.openxmlformats.org/officeDocument/2006/relationships/font" Target="fonts/OpenSans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OpenSansMedium-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bold.fntdata"/><Relationship Id="rId16" Type="http://schemas.openxmlformats.org/officeDocument/2006/relationships/slide" Target="slides/slide11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34bcd685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34bcd685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34bcd68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34bcd68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34bcd685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34bcd685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34bcd685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34bcd685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34bcd685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34bcd685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34bcd6851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34bcd6851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34bcd685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34bcd685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3bedddb7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3bedddb7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46d0adda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46d0adda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46d0adda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46d0adda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46d0adda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46d0adda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46d0adda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46d0adda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46d0adda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46d0adda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46d0adda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46d0adda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46d0adda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46d0adda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46d0adda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46d0adda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46d0adda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46d0adda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46d0adda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46d0adda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46d0adda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46d0adda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46d0adda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46d0adda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46d0adda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46d0adda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3bedddb7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3bedddb7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3bedddb7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3bedddb7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3bedddb7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83bedddb7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8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26475" y="133250"/>
            <a:ext cx="8927400" cy="47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Open Sans"/>
                <a:ea typeface="Open Sans"/>
                <a:cs typeface="Open Sans"/>
                <a:sym typeface="Open Sans"/>
              </a:rPr>
              <a:t>Module 2: Web Fundamentals (Frontend Tech)</a:t>
            </a:r>
            <a:endParaRPr b="1" sz="3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Introduction to web technologies: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126475" y="864275"/>
            <a:ext cx="5754900" cy="4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HTML</a:t>
            </a:r>
            <a:r>
              <a:rPr lang="en" sz="1600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(HyperText Markup Language) is the standard language used to create and 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structure content</a:t>
            </a:r>
            <a:r>
              <a:rPr lang="en" sz="1600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on the web.</a:t>
            </a:r>
            <a:endParaRPr sz="1600">
              <a:solidFill>
                <a:schemeClr val="dk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SemiBold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CSS</a:t>
            </a:r>
            <a:r>
              <a:rPr lang="en" sz="1600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(Cascading Style Sheets) is the language used to 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style</a:t>
            </a:r>
            <a:r>
              <a:rPr lang="en" sz="1600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and design HTML elements on a web page.</a:t>
            </a:r>
            <a:endParaRPr sz="1600">
              <a:solidFill>
                <a:schemeClr val="dk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SemiBold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JavaScript</a:t>
            </a:r>
            <a:r>
              <a:rPr lang="en" sz="1600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is a programming language used to create 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interactive and dynamic content</a:t>
            </a:r>
            <a:r>
              <a:rPr lang="en" sz="1600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on websites.</a:t>
            </a:r>
            <a:endParaRPr sz="1600">
              <a:solidFill>
                <a:schemeClr val="dk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12142" l="0" r="3241" t="0"/>
          <a:stretch/>
        </p:blipFill>
        <p:spPr>
          <a:xfrm>
            <a:off x="6033775" y="900650"/>
            <a:ext cx="2861950" cy="250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126475" y="133250"/>
            <a:ext cx="8927400" cy="8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HTML, CSS, and JavaScript work together inside a browser.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126475" y="1011950"/>
            <a:ext cx="5754900" cy="4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4788" l="0" r="0" t="6221"/>
          <a:stretch/>
        </p:blipFill>
        <p:spPr>
          <a:xfrm>
            <a:off x="0" y="1222750"/>
            <a:ext cx="5660525" cy="392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HTML(HyperText Markup Language)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5811" l="0" r="2200" t="0"/>
          <a:stretch/>
        </p:blipFill>
        <p:spPr>
          <a:xfrm>
            <a:off x="2998200" y="805775"/>
            <a:ext cx="2756625" cy="38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rgbClr val="1155C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HTML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means Hyper Text Markup Language.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HTML allow us to define the structure of a document or a website.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HTML is </a:t>
            </a:r>
            <a:r>
              <a:rPr lang="en" sz="1600">
                <a:solidFill>
                  <a:srgbClr val="FF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NOT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 programming language, it's a 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markup language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, which means its purpose is to give structure to the content of the website, not to define an algorithm.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It is a series of nested tags (it is a subset of XML) that contain all the website information (like texts, images and videos). Here is an example of tags: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‹title&gt;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This is a title‹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/title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rgbClr val="E06666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HTML defines the page structure. A website can have several HTMLs to different pages.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 Basic Template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8"/>
          <p:cNvPicPr preferRelativeResize="0"/>
          <p:nvPr/>
        </p:nvPicPr>
        <p:blipFill rotWithShape="1">
          <a:blip r:embed="rId3">
            <a:alphaModFix/>
          </a:blip>
          <a:srcRect b="5294" l="0" r="0" t="0"/>
          <a:stretch/>
        </p:blipFill>
        <p:spPr>
          <a:xfrm>
            <a:off x="152400" y="900650"/>
            <a:ext cx="7895839" cy="424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 Key Elements Explained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rgbClr val="1155C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&lt;!DOCTYPE html&gt; –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Declares the document type as HTML5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rgbClr val="1155C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&lt;html&gt; –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root element of the HTML document.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rgbClr val="1155C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&lt;head&gt; –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Contains metadata, links to stylesheets, etc.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rgbClr val="1155C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&lt;title&gt; –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page title shown in the browser tab.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rgbClr val="1155C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&lt;body&gt; –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Contains the visible page content.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 Elements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HTML 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element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is everything from the 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start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tag to the 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end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tag or self closing tag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tagname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&gt;Content goes here...&lt;/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tagname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tagname 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Examples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of some HTML elements: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&lt;h1&gt;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My First Heading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&lt;/h1&gt;</a:t>
            </a:r>
            <a:endParaRPr sz="1600">
              <a:solidFill>
                <a:srgbClr val="E06666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&lt;p&gt;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My first paragraph.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&lt;/p&gt;</a:t>
            </a:r>
            <a:endParaRPr sz="1600">
              <a:solidFill>
                <a:srgbClr val="E06666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&lt;img /&gt;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or  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&lt;img&gt;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//Self Closing Tag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 Elements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div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a container, usually represents a rectangular area with information inside.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img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an image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a clickable link to go to another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a text paragraph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form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use to define a form for collecting user input.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label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use to define a label for an input element in a form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h1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a title (h2,h3,h4 are titles)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input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a widget to let the user introduce information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style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to insert CSS rules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script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to execute Javascript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 Elements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22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span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inline element that is used to group or style a portion of text or content within a block-level element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button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to create a button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audio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for playing audio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video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to play video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canvas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to draw graphics from javascript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iframe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to put another website inside ours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table: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display data in grid format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HTML: Tagging Correctly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6" name="Google Shape;116;p23"/>
          <p:cNvPicPr preferRelativeResize="0"/>
          <p:nvPr/>
        </p:nvPicPr>
        <p:blipFill rotWithShape="1">
          <a:blip r:embed="rId3">
            <a:alphaModFix/>
          </a:blip>
          <a:srcRect b="4671" l="0" r="843" t="0"/>
          <a:stretch/>
        </p:blipFill>
        <p:spPr>
          <a:xfrm>
            <a:off x="152400" y="900650"/>
            <a:ext cx="8764401" cy="343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 Block and Inline Elements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Every HTML element has a default display value, depending on what type of element it is.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two most common display values are block and inline.</a:t>
            </a:r>
            <a:endParaRPr sz="18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Block-level Elements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25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 block-level element always starts on a new line, and the browsers automatically add some space (a margin) before and after the element.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 block-level element always takes up the full width available (stretches out to the left and right as far as it can).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Two commonly used block elements are: &lt;p&gt; and &lt;div&gt;.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&lt;p&gt;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element defines a paragraph in an HTML document.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&lt;div&gt;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element defines a division or a section in an HTML document.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&lt;p&gt;</a:t>
            </a:r>
            <a:r>
              <a:rPr lang="en" sz="18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“p” element is a block-level element.</a:t>
            </a:r>
            <a:r>
              <a:rPr lang="en" sz="18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&lt;/p&gt;</a:t>
            </a:r>
            <a:endParaRPr sz="1800">
              <a:solidFill>
                <a:srgbClr val="E06666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&lt;div&gt;</a:t>
            </a:r>
            <a:r>
              <a:rPr lang="en" sz="18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“div” element is a block-level element. </a:t>
            </a:r>
            <a:r>
              <a:rPr lang="en" sz="18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&lt;/div&gt;</a:t>
            </a:r>
            <a:endParaRPr sz="1800">
              <a:solidFill>
                <a:srgbClr val="E06666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Here are the block-level elements in HTML: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4" name="Google Shape;134;p26"/>
          <p:cNvPicPr preferRelativeResize="0"/>
          <p:nvPr/>
        </p:nvPicPr>
        <p:blipFill rotWithShape="1">
          <a:blip r:embed="rId3">
            <a:alphaModFix/>
          </a:blip>
          <a:srcRect b="16604" l="0" r="488" t="0"/>
          <a:stretch/>
        </p:blipFill>
        <p:spPr>
          <a:xfrm>
            <a:off x="28688" y="838550"/>
            <a:ext cx="9122975" cy="1733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Inline Elements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27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An inline element does not start on a new line.</a:t>
            </a:r>
            <a:endParaRPr sz="18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An inline element only takes up as much width as necessary.</a:t>
            </a:r>
            <a:endParaRPr sz="18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This is a &lt;span&gt; element inside a paragraph.</a:t>
            </a:r>
            <a:endParaRPr sz="18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&lt;span&gt;</a:t>
            </a:r>
            <a:r>
              <a:rPr lang="en" sz="18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Hello World</a:t>
            </a:r>
            <a:r>
              <a:rPr lang="en" sz="18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&lt;/span&gt;</a:t>
            </a:r>
            <a:endParaRPr sz="1800">
              <a:solidFill>
                <a:srgbClr val="E06666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Here are the inline elements in HTML: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6" name="Google Shape;146;p28"/>
          <p:cNvPicPr preferRelativeResize="0"/>
          <p:nvPr/>
        </p:nvPicPr>
        <p:blipFill rotWithShape="1">
          <a:blip r:embed="rId3">
            <a:alphaModFix/>
          </a:blip>
          <a:srcRect b="18180" l="0" r="961" t="0"/>
          <a:stretch/>
        </p:blipFill>
        <p:spPr>
          <a:xfrm>
            <a:off x="0" y="748250"/>
            <a:ext cx="9143998" cy="1833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 Attributes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29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All HTML elements can have 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attributes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Attributes provide 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additional information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about elements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Attributes are always specified in 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start tag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Attributes usually come in name/value pairs like: 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name="value"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 Attributes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30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b="1" lang="en" sz="20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href</a:t>
            </a: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Attribute: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&lt;a&gt;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tag defines a hyperlink. The 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href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attribute specifies the URL of the page the link goes to: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38761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href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0000C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https://www.wikipedia.org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"&gt;Visit </a:t>
            </a:r>
            <a:r>
              <a:rPr lang="en" sz="1600">
                <a:solidFill>
                  <a:srgbClr val="0000C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</a:t>
            </a:r>
            <a:r>
              <a:rPr lang="en" sz="1600">
                <a:solidFill>
                  <a:srgbClr val="0000C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ikipedia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 Attributes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31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b="1" lang="en" sz="20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src</a:t>
            </a: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Attribute: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&lt;img&gt;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tag is used to embed an image in an HTML page. The 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src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attribute specifies the path to the image to be displayed: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img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38761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src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0000C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heros.jpg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 </a:t>
            </a:r>
            <a:r>
              <a:rPr lang="en" sz="1600">
                <a:solidFill>
                  <a:srgbClr val="6AA84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alt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=”Hero Image”&gt;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 Attributes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32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b="1" lang="en" sz="20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style</a:t>
            </a: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Attribute: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style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attribute is used to add styles to an element, such as color, font, size, and more.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6AA84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style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0000C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color:red;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"&gt;This is a red paragraph.&lt;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/p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 Attributes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33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b="1" lang="en" sz="20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lang</a:t>
            </a: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Attribute: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Always include the 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lang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attribute inside the 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&lt;html&gt;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tag, to declare the language of the Web page. This is meant to assist search engines and browsers.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&lt;!DOCTYPE html&gt;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html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6AA84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lang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0000C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body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...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body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html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4"/>
          <p:cNvPicPr preferRelativeResize="0"/>
          <p:nvPr/>
        </p:nvPicPr>
        <p:blipFill rotWithShape="1">
          <a:blip r:embed="rId3">
            <a:alphaModFix/>
          </a:blip>
          <a:srcRect b="5559" l="2434" r="1725" t="3606"/>
          <a:stretch/>
        </p:blipFill>
        <p:spPr>
          <a:xfrm>
            <a:off x="158100" y="42163"/>
            <a:ext cx="5981252" cy="505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4"/>
          <p:cNvSpPr txBox="1"/>
          <p:nvPr>
            <p:ph type="ctrTitle"/>
          </p:nvPr>
        </p:nvSpPr>
        <p:spPr>
          <a:xfrm>
            <a:off x="6186950" y="133250"/>
            <a:ext cx="2867100" cy="49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 Tag, Comment, Attribute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 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DOM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35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information is stored in a tree-like structure (nodes that contain nodes inside) called 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DOM (Document Object Model). 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Every node can only have one parent, and every node can have several children, so the structure looks like a tree.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HTML Tree Structure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4" name="Google Shape;194;p36"/>
          <p:cNvPicPr preferRelativeResize="0"/>
          <p:nvPr/>
        </p:nvPicPr>
        <p:blipFill rotWithShape="1">
          <a:blip r:embed="rId3">
            <a:alphaModFix/>
          </a:blip>
          <a:srcRect b="5553" l="0" r="685" t="0"/>
          <a:stretch/>
        </p:blipFill>
        <p:spPr>
          <a:xfrm>
            <a:off x="152400" y="900650"/>
            <a:ext cx="6877751" cy="386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